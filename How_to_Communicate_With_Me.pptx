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Remind audience deck is editable with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chapter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bracketed items with personal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Intersectional web model slide with editable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with exact theory if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Lecture-aligned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 first-person statements to match lived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symbolic images made with built-in shapes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Lecture-aligned context for emotions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Includes required beliefs, key term, takeaway, and tips.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reminder slide and second symbolic image set for emotions.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How to Communicate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86677"/>
                </a:solidFill>
              </a:rPr>
              <a:t>Interpersonal Communication Final Project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Name: [Edit Your Name]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Pronouns: [Edit Pronouns]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Course: Interpersonal Communication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Date: [Edit Date]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828800"/>
            <a:ext cx="4389120" cy="3291840"/>
          </a:xfrm>
          <a:prstGeom prst="roundRect">
            <a:avLst/>
          </a:prstGeom>
          <a:solidFill>
            <a:srgbClr val="D6EBF5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Customize all [bracketed] text</a:t>
            </a:r>
          </a:p>
          <a:p>
            <a:r>
              <a:t>before submitting.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Manual Chapters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Chapter 1: Self-Concept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Chapter 2: Communicating with Family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Chapter 3: Emotions &amp; Communication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Each chapter includes context, beliefs/biases, key terms, personal takeaways, and tips for others.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Chapter 1 — Self-Concept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86677"/>
                </a:solidFill>
              </a:rPr>
              <a:t>Who I am and how I want to be communicated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• Johari Window (2 items in each quadrant)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• Identity cloud/web model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• 3 Core values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• Live Vision Statement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• Interpersonal theory from group project (editable summary)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Johari Window (Customize These Items)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10789920" cy="4937760"/>
          </a:xfrm>
          <a:prstGeom prst="rect">
            <a:avLst/>
          </a:prstGeom>
          <a:noFill/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217920.0" y="1463040"/>
            <a:ext cx="0.0" cy="4937760"/>
          </a:xfrm>
          <a:prstGeom prst="line">
            <a:avLst/>
          </a:prstGeom>
          <a:ln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3931920.0"/>
            <a:ext cx="10789920" cy="0.0"/>
          </a:xfrm>
          <a:prstGeom prst="line">
            <a:avLst/>
          </a:prstGeom>
          <a:ln>
            <a:solidFill>
              <a:srgbClr val="182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160020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2B49"/>
                </a:solidFill>
              </a:defRPr>
            </a:pPr>
            <a:r>
              <a:t>Open (known to self + others)</a:t>
            </a:r>
          </a:p>
          <a:p>
            <a:pPr>
              <a:defRPr sz="1500"/>
            </a:pPr>
            <a:r>
              <a:t>[Open 1]</a:t>
            </a:r>
            <a:br/>
            <a:r>
              <a:t>[Open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2B49"/>
                </a:solidFill>
              </a:defRPr>
            </a:pPr>
            <a:r>
              <a:t>Hidden (known to self)</a:t>
            </a:r>
          </a:p>
          <a:p>
            <a:pPr>
              <a:defRPr sz="1500"/>
            </a:pPr>
            <a:r>
              <a:t>[Hidden 1]</a:t>
            </a:r>
            <a:br/>
            <a:r>
              <a:t>[Hidden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2B49"/>
                </a:solidFill>
              </a:defRPr>
            </a:pPr>
            <a:r>
              <a:t>Blind (known to others)</a:t>
            </a:r>
          </a:p>
          <a:p>
            <a:pPr>
              <a:defRPr sz="1500"/>
            </a:pPr>
            <a:r>
              <a:t>[Blind 1]</a:t>
            </a:r>
            <a:br/>
            <a:r>
              <a:t>[Blind 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82B49"/>
                </a:solidFill>
              </a:defRPr>
            </a:pPr>
            <a:r>
              <a:t>Unknown</a:t>
            </a:r>
          </a:p>
          <a:p>
            <a:pPr>
              <a:defRPr sz="1500"/>
            </a:pPr>
            <a:r>
              <a:t>[Unknown 1]</a:t>
            </a:r>
            <a:br/>
            <a:r>
              <a:t>[Unknown 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Identity Cloud + Core Values + Live Vision Statement</a:t>
            </a:r>
          </a:p>
        </p:txBody>
      </p:sp>
      <p:sp>
        <p:nvSpPr>
          <p:cNvPr id="3" name="Oval 2"/>
          <p:cNvSpPr/>
          <p:nvPr/>
        </p:nvSpPr>
        <p:spPr>
          <a:xfrm>
            <a:off x="5212080" y="2377440"/>
            <a:ext cx="1828800" cy="1097280"/>
          </a:xfrm>
          <a:prstGeom prst="ellipse">
            <a:avLst/>
          </a:prstGeom>
          <a:solidFill>
            <a:srgbClr val="CAE5FF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[Your Name]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Culture/Identity: [edit]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38912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Family Role: [edit]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Languages: [edit]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29768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Goals: [edit]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3464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Personality: [edit]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743200"/>
            <a:ext cx="2011680" cy="731520"/>
          </a:xfrm>
          <a:prstGeom prst="roundRect">
            <a:avLst/>
          </a:prstGeom>
          <a:solidFill>
            <a:srgbClr val="E9F3F8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Community: [edit]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Core Values: [Value 1], [Value 2], [Value 3]   |   Live Vision: [Write a 1–2 sentence relationship/life vision statement]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Interpersonal Theory (Group Project Connection)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Theory Used: [Edit if different] Social Penetration Theory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Neutral summary: Relationship closeness grows over time through gradual, reciprocal self-disclosure.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How it relates to me: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• I open up more when trust and consistency are present.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• I appreciate communication that moves from surface-level to deeper topics respectfully.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• I communicate best when vulnerability is met with empathy, not judgment.</a:t>
            </a:r>
          </a:p>
          <a:p>
            <a:pPr>
              <a:defRPr sz="1800">
                <a:solidFill>
                  <a:srgbClr val="1E1E1E"/>
                </a:solidFill>
              </a:defRPr>
            </a:pP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Placeholder to edit: [Replace with your exact group-project theory summary here.]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Chapter 2 — Communicating with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86677"/>
                </a:solidFill>
              </a:rPr>
              <a:t>Context + Key Lecture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3385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Context: This unit examined how family communication patterns shape identity, expectations, conflict, and emotional safety.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Interactional View Theory (Watzlawick, 1967): every message has content + relationship meaning; one cannot not communicate.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Punctuating patterns: family members may label the same conflict differently, which keeps cycles going.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Family Systems Theory (Bowen, 1966): families operate as emotional systems (triangles, differentiation of self, emotional cutoff).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Dysfunctional roles may appear: golden child, hero, mascot, lost child, patient, enabler, parentified child, black sheep.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Transgenerational trauma: unresolved patterns can be passed down unless intentionally interrupted.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Family Unit — My Beliefs, Takeaway, and Tips for Others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577840" cy="5120640"/>
          </a:xfrm>
          <a:prstGeom prst="rect">
            <a:avLst/>
          </a:prstGeom>
          <a:solidFill>
            <a:srgbClr val="F7FAFC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371600"/>
            <a:ext cx="5303520" cy="5120640"/>
          </a:xfrm>
          <a:prstGeom prst="rect">
            <a:avLst/>
          </a:prstGeom>
          <a:solidFill>
            <a:srgbClr val="F7FAFC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1206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1E1E"/>
                </a:solidFill>
              </a:defRPr>
            </a:pPr>
            <a:r>
              <a:t>Biases/Beliefs (editable, first person):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1) I used to think “silence keeps peace,” but silence can increase distance.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2) I believed disagreement with family equals disrespect; now I practice respectful honesty.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3) I assumed family should “just know” my needs; now I state needs clearly.</a:t>
            </a:r>
          </a:p>
          <a:p>
            <a:pPr>
              <a:defRPr sz="1500">
                <a:solidFill>
                  <a:srgbClr val="1E1E1E"/>
                </a:solidFill>
              </a:defRPr>
            </a:pP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Personal takeaway: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I can pause, reflect, and communicate needs without blame.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600200"/>
            <a:ext cx="48463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1E1E"/>
                </a:solidFill>
              </a:defRPr>
            </a:pPr>
            <a:r>
              <a:t>Tips for communicating with me in family context: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Speak directly to me (avoid triangling/gossip).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Use calm tone + specific examples.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Give me processing time if emotions rise.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Invite perspective-taking (“Help me understand…”).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If conflict repeats, suggest mindful reset or family-support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Family Symbolic Images + Resolution Ideas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2468880"/>
            <a:ext cx="2286000" cy="1737360"/>
          </a:xfrm>
          <a:prstGeom prst="rect">
            <a:avLst/>
          </a:prstGeom>
          <a:solidFill>
            <a:srgbClr val="E1EDFB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05840" y="1737360"/>
            <a:ext cx="2651760" cy="1097280"/>
          </a:xfrm>
          <a:prstGeom prst="triangle">
            <a:avLst/>
          </a:prstGeom>
          <a:solidFill>
            <a:srgbClr val="E1EDFB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200400"/>
            <a:ext cx="548640" cy="1005840"/>
          </a:xfrm>
          <a:prstGeom prst="rect">
            <a:avLst/>
          </a:prstGeom>
          <a:solidFill>
            <a:srgbClr val="E1EDFB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3840480"/>
            <a:ext cx="411480" cy="411480"/>
          </a:xfrm>
          <a:prstGeom prst="ellipse">
            <a:avLst/>
          </a:prstGeom>
          <a:solidFill>
            <a:srgbClr val="209CA9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49039"/>
            <a:ext cx="502920" cy="502920"/>
          </a:xfrm>
          <a:prstGeom prst="ellipse">
            <a:avLst/>
          </a:prstGeom>
          <a:solidFill>
            <a:srgbClr val="209CA9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3840480"/>
            <a:ext cx="411480" cy="411480"/>
          </a:xfrm>
          <a:prstGeom prst="ellipse">
            <a:avLst/>
          </a:prstGeom>
          <a:solidFill>
            <a:srgbClr val="209CA9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Image Symbol 1: Home/family system</a:t>
            </a:r>
          </a:p>
          <a:p>
            <a:r>
              <a:t>(shared roles, rules, and patterns)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017520"/>
            <a:ext cx="2743200" cy="228600"/>
          </a:xfrm>
          <a:prstGeom prst="rect">
            <a:avLst/>
          </a:prstGeom>
          <a:solidFill>
            <a:srgbClr val="D2E8E5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ock Arc 10"/>
          <p:cNvSpPr/>
          <p:nvPr/>
        </p:nvSpPr>
        <p:spPr>
          <a:xfrm>
            <a:off x="4892040" y="2560320"/>
            <a:ext cx="1234440" cy="1005840"/>
          </a:xfrm>
          <a:prstGeom prst="blockArc">
            <a:avLst/>
          </a:prstGeom>
          <a:solidFill>
            <a:srgbClr val="D2E8E5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5623560" y="2560320"/>
            <a:ext cx="1234440" cy="1005840"/>
          </a:xfrm>
          <a:prstGeom prst="blockArc">
            <a:avLst/>
          </a:prstGeom>
          <a:solidFill>
            <a:srgbClr val="D2E8E5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6355080" y="2560320"/>
            <a:ext cx="1234440" cy="1005840"/>
          </a:xfrm>
          <a:prstGeom prst="blockArc">
            <a:avLst/>
          </a:prstGeom>
          <a:solidFill>
            <a:srgbClr val="D2E8E5"/>
          </a:solidFill>
          <a:ln>
            <a:solidFill>
              <a:srgbClr val="209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ave 13"/>
          <p:cNvSpPr/>
          <p:nvPr/>
        </p:nvSpPr>
        <p:spPr>
          <a:xfrm>
            <a:off x="4754880" y="3383280"/>
            <a:ext cx="2926080" cy="822960"/>
          </a:xfrm>
          <a:prstGeom prst="wave">
            <a:avLst/>
          </a:prstGeom>
          <a:solidFill>
            <a:srgbClr val="B4D9E7"/>
          </a:solidFill>
          <a:ln>
            <a:solidFill>
              <a:srgbClr val="78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Image Symbol 2: Bridge</a:t>
            </a:r>
          </a:p>
          <a:p>
            <a:r>
              <a:t>(repair through reflection + perspective-taking)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82880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Resolution ideas to break cycles: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Mindfulness before reacting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Reflect on own punctuation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Perspective-taking language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Observe patterns without blame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Consider family therapy/support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Chapter 3 — Emotions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86677"/>
                </a:solidFill>
              </a:rPr>
              <a:t>Context + Key Terms from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Context: This unit explained how emotions and reasoning influence what we say, hear, and interpret in communication.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APA-aligned framing: emotions are affective states that shape attention, meaning-making, and behavior.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DBT states of mind: Reasonable Mind, Emotional Mind, Wise Mind (integration of logic + feeling).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Emotion impacts communication through tone, nonverbals, timing, and assumptions.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Responsibility: my emotions are valid, and I am responsible for how I communicate them.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Emotions + body at a high level: stress responses and ACEs can influence regulation and relational reactions.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Emotions Unit — Beliefs, Takeaway, and Tips for 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1E1E"/>
                </a:solidFill>
              </a:defRPr>
            </a:pPr>
            <a:r>
              <a:t>Biases/Beliefs (editable):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1) I used to see emotion as weakness; now I see healthy expression as strength.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2) I thought anger meant “bad person”; now I treat anger as data about unmet needs.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3) I believed people should read my mind; now I name feelings and needs directly.</a:t>
            </a:r>
          </a:p>
          <a:p>
            <a:pPr>
              <a:defRPr sz="1500">
                <a:solidFill>
                  <a:srgbClr val="1E1E1E"/>
                </a:solidFill>
              </a:defRPr>
            </a:pP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Key term/idea: Wise Mind + emotional vocabulary + emotion wheel for precision.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49377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1E1E"/>
                </a:solidFill>
              </a:defRPr>
            </a:pPr>
            <a:r>
              <a:t>Personal takeaway: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When emotional intensity rises, I pause and regulate before big conversations.</a:t>
            </a:r>
          </a:p>
          <a:p>
            <a:pPr>
              <a:defRPr sz="1500">
                <a:solidFill>
                  <a:srgbClr val="1E1E1E"/>
                </a:solidFill>
              </a:defRPr>
            </a:pP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Tips for communicating with me about emotions: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Ask: “Do you want listening, problem-solving, or both?”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Keep nonverbals open and tone calm.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Use OTAT (one thing at a time) instead of stacking issues.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Clarify meaning before assumptions.</a:t>
            </a:r>
          </a:p>
          <a:p>
            <a:pPr>
              <a:defRPr sz="1500">
                <a:solidFill>
                  <a:srgbClr val="1E1E1E"/>
                </a:solidFill>
              </a:defRPr>
            </a:pPr>
            <a:r>
              <a:t>• Encourage breathing/short reset if we escalate.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182B49"/>
                </a:solidFill>
              </a:rPr>
              <a:t>Emotions Symbols + Final Customization Checklist</a:t>
            </a:r>
          </a:p>
        </p:txBody>
      </p:sp>
      <p:sp>
        <p:nvSpPr>
          <p:cNvPr id="3" name="Heart 2"/>
          <p:cNvSpPr/>
          <p:nvPr/>
        </p:nvSpPr>
        <p:spPr>
          <a:xfrm>
            <a:off x="1005840" y="1828800"/>
            <a:ext cx="2011680" cy="1645920"/>
          </a:xfrm>
          <a:prstGeom prst="heart">
            <a:avLst/>
          </a:prstGeom>
          <a:solidFill>
            <a:srgbClr val="F49090"/>
          </a:solidFill>
          <a:ln>
            <a:solidFill>
              <a:srgbClr val="C8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3383280" y="1828800"/>
            <a:ext cx="2377440" cy="1645920"/>
          </a:xfrm>
          <a:prstGeom prst="cloud">
            <a:avLst/>
          </a:prstGeom>
          <a:solidFill>
            <a:srgbClr val="C2D7FA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108960" y="2651760"/>
            <a:ext cx="274320" cy="0"/>
          </a:xfrm>
          <a:prstGeom prst="line">
            <a:avLst/>
          </a:prstGeom>
          <a:ln>
            <a:solidFill>
              <a:srgbClr val="209C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49039"/>
            <a:ext cx="5303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Image Symbols: Heart + Brain</a:t>
            </a:r>
          </a:p>
          <a:p>
            <a:r>
              <a:t>(Emotional Mind and Reasonable Mind integrated into Wise Mind)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828800"/>
            <a:ext cx="2011680" cy="2011680"/>
          </a:xfrm>
          <a:prstGeom prst="ellipse">
            <a:avLst/>
          </a:prstGeom>
          <a:solidFill>
            <a:srgbClr val="FED4A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40980" y="1988819"/>
            <a:ext cx="1691640" cy="1691640"/>
          </a:xfrm>
          <a:prstGeom prst="ellipse">
            <a:avLst/>
          </a:prstGeom>
          <a:solidFill>
            <a:srgbClr val="FFF2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2148840"/>
            <a:ext cx="1371600" cy="1371600"/>
          </a:xfrm>
          <a:prstGeom prst="ellipse">
            <a:avLst/>
          </a:prstGeom>
          <a:solidFill>
            <a:srgbClr val="BDE7C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61020" y="2308860"/>
            <a:ext cx="1051560" cy="1051560"/>
          </a:xfrm>
          <a:prstGeom prst="ellipse">
            <a:avLst/>
          </a:prstGeom>
          <a:solidFill>
            <a:srgbClr val="B3D6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5120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Before submission, edit placeholders for: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• Name/pronouns and personal examples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• Theory used in your group project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• Final core values and live vision statement</a:t>
            </a:r>
          </a:p>
          <a:p>
            <a:pPr>
              <a:defRPr sz="1400">
                <a:solidFill>
                  <a:srgbClr val="1E1E1E"/>
                </a:solidFill>
              </a:defRPr>
            </a:pPr>
            <a:r>
              <a:t>• Any instructor-specific wording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